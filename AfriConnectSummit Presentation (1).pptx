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72" y="-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4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 — Page de titre : compléter nom, classe et date avant la soutenance.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2 — Sommaire complet des 15 diapositives.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3 — Contexte, objectif et public cible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4 — Présenter les objectifs pédagogiques et contraintes techniques imposées par le projet académique.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5 — Justifier les choix de couleurs avec les codes hexadécimaux exacts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6 — Présenter l’arborescence réelle des fichiers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7 — Insérer ici de vraies captures d’écran des 4 pages avant la présentation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8 — Présenter le code du compte à rebours et expliquer la gestion du thème sombre/clair avec localStorage.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9 — Présenter les animations au scroll, le filtrage dynamique des intervenants et la validation du formulaire.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10 — Détailler la stack technique et préciser que Bootstrap Icons est utilisé uniquement pour les icônes, pas comme framework 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11 — Présenter les commits, le workflow Git et donner le lien GitHub Pages réel du dépôt.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12 — 4 difficultés présentées, avec problème et solution clairement identifiés.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13 — Quitter le PowerPoint et montrer le site en direct : countdown, thème, filtres, formulaire.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14 — Résumer les compétences acquises pendant la réalisation du projet AfriConnect Summit.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15 — Présenter les axes d’évolution possibles du projet et conclure en invitant aux questions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eynaboudiacene8-pixel/Diacene-Seynabou-AfriConnectSummit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eynaboudiacene8-pixel.github.io/Diacene-Seynabou-AfriConnectSummit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B4530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023360"/>
            <a:ext cx="5486400" cy="5486400"/>
          </a:xfrm>
          <a:prstGeom prst="ellipse">
            <a:avLst/>
          </a:prstGeom>
          <a:solidFill>
            <a:srgbClr val="B45309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DAKAR, SÉNÉGAL  •  SOMMET TECH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AfriConnect Summit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 officielle du grand sommet technologique de Dakar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5553" y="4256532"/>
            <a:ext cx="6492240" cy="16002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343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77440" y="4315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Diacene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Seynabou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47731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47457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IAGE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520293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77440" y="51755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académique L1 — site vitrine multi-pages, responsive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71600" y="167335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 titre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58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2240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82549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80720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3924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37413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&amp; contraintes académiques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9593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941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 &amp; identité visuelle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50799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 fichiers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0932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50749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des pages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6601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64184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 — Countdown &amp; Thème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691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167335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 — Animations, filtres &amp; formulaire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258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2240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outils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82549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280720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(commits, workflow, lien)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33924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337413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et solutions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39593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394106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 du site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4526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03720" y="450799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50932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50749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d’amélioration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projet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24028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0F172A"/>
          </a:solidFill>
          <a:ln/>
        </p:spPr>
      </p:sp>
      <p:pic>
        <p:nvPicPr>
          <p:cNvPr id="5" name="Image 0" descr="/home/claude/work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510" y="24377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32918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379476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 est la plateforme web officielle du grand sommet technologique qui se tiendra à Dakar, Sénégal.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17720" y="187452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224028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B45309"/>
          </a:solidFill>
          <a:ln/>
        </p:spPr>
      </p:sp>
      <p:pic>
        <p:nvPicPr>
          <p:cNvPr id="10" name="Image 1" descr="/home/claude/work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270" y="243779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37760" y="32918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937760" y="379476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Informer les participants, présenter le programme des conférences, mettre en avant les intervenants internationaux et faciliter les inscriptions en ligne.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412480" y="187452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732520" y="224028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334155"/>
          </a:solidFill>
          <a:ln/>
        </p:spPr>
      </p:sp>
      <p:pic>
        <p:nvPicPr>
          <p:cNvPr id="15" name="Image 2" descr="/home/claude/work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0030" y="243779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32520" y="32918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cible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732520" y="379476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au sommet, professionnels tech, étudiants et intervenants internationaux souhaitant s’informer et s’inscrire.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&amp; contraintes académiques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20574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B45309"/>
          </a:solidFill>
          <a:ln/>
        </p:spPr>
      </p:sp>
      <p:pic>
        <p:nvPicPr>
          <p:cNvPr id="5" name="Image 0" descr="/home/claude/work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2219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0391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sémantique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965960" y="24688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rigoureuse des balises HTML5 pour garantir l’accessibilité et un bon référencement (SEO).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20574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B45309"/>
          </a:solidFill>
          <a:ln/>
        </p:spPr>
      </p:sp>
      <p:pic>
        <p:nvPicPr>
          <p:cNvPr id="10" name="Image 1" descr="/home/claude/work/icons/cs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2219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20391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CSS sur-mesure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360920" y="24688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professionnel via Flexbox, CSS Grid et variables CSS — sans dépendre de frameworks comme Bootstrap ou Tailwind.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393192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1E293B"/>
          </a:solidFill>
          <a:ln/>
        </p:spPr>
      </p:sp>
      <p:sp>
        <p:nvSpPr>
          <p:cNvPr id="14" name="Shape 10"/>
          <p:cNvSpPr/>
          <p:nvPr/>
        </p:nvSpPr>
        <p:spPr>
          <a:xfrm>
            <a:off x="1097280" y="42062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B45309"/>
          </a:solidFill>
          <a:ln/>
        </p:spPr>
      </p:sp>
      <p:pic>
        <p:nvPicPr>
          <p:cNvPr id="15" name="Image 2" descr="/home/claude/work/icons/j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437083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41879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pur (Vanilla )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965960" y="46177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dynamiques fluides développées sans bibliothèques externes.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17920" y="393192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1E293B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42062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B45309"/>
          </a:solidFill>
          <a:ln/>
        </p:spPr>
      </p:sp>
      <p:pic>
        <p:nvPicPr>
          <p:cNvPr id="20" name="Image 3" descr="/home/claude/work/icons/fol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437083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60920" y="41879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Modularité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360920" y="46177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feuille de style partagée et un script centralisé pour une cohérence visuelle sur toutes les pages.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 de couleurs &amp; identité visuelle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3154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#0f172a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Primaire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nuit / ardoise profond pour la structure et la sobriété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85032" y="17830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3867912" y="3154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#b45309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67912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67912" y="38404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Ambre / or brossé pour marquer le prestige et l’interaction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47104" y="17830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9984" y="3154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#f8fafc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9984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 clair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29984" y="38404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 cassé très doux pour un confort de lecture optimal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09176" y="17830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92056" y="31546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92056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 / Blocs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592056" y="384048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 pur assurant un bon niveau de contraste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330952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graphique professionnelle, sobre et contrastée : le bleu nuit structure l’interface, l’ambre souligne le prestige et guide l’interaction, les fonds clairs garantissent un excellent confort de lecture.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des fichiers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116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africonnect-summit/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programme.html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intervenants.html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contact.html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style.css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script.js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63640" y="1691640"/>
            <a:ext cx="109728" cy="868680"/>
          </a:xfrm>
          <a:prstGeom prst="round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6733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pages HTML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537960" y="2057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(accueil), programme (planning), intervenants, contact (inscription)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770632"/>
            <a:ext cx="109728" cy="868680"/>
          </a:xfrm>
          <a:prstGeom prst="round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7523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fichier CSS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37960" y="313639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 — style global, variables CSS et media queries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3849624"/>
            <a:ext cx="109728" cy="868680"/>
          </a:xfrm>
          <a:prstGeom prst="round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38313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fichier JS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421538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— countdown, filtres, mode sombre, validation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4928616"/>
            <a:ext cx="109728" cy="868680"/>
          </a:xfrm>
          <a:prstGeom prst="round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49103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Séparation des rôles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537960" y="52943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structure, CSS = style, JS = comportement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Aperçu des pages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737360"/>
            <a:ext cx="2240280" cy="1600200"/>
          </a:xfrm>
          <a:prstGeom prst="roundRect">
            <a:avLst>
              <a:gd name="adj" fmla="val 2857"/>
            </a:avLst>
          </a:prstGeom>
          <a:solidFill>
            <a:srgbClr val="EEF2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794322" y="3814124"/>
            <a:ext cx="594360" cy="541110"/>
          </a:xfrm>
          <a:prstGeom prst="roundRect">
            <a:avLst>
              <a:gd name="adj" fmla="val 21538"/>
            </a:avLst>
          </a:prstGeom>
          <a:solidFill>
            <a:srgbClr val="0F172A"/>
          </a:solidFill>
          <a:ln/>
        </p:spPr>
      </p:sp>
      <p:pic>
        <p:nvPicPr>
          <p:cNvPr id="7" name="Image 0" descr="/home/claude/work/icon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726" y="3935040"/>
            <a:ext cx="309067" cy="30906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93592" y="160020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730752" y="1737360"/>
            <a:ext cx="2240280" cy="1600200"/>
          </a:xfrm>
          <a:prstGeom prst="roundRect">
            <a:avLst>
              <a:gd name="adj" fmla="val 2857"/>
            </a:avLst>
          </a:prstGeom>
          <a:solidFill>
            <a:srgbClr val="EEF2F6"/>
          </a:solidFill>
          <a:ln/>
        </p:spPr>
      </p:sp>
      <p:sp>
        <p:nvSpPr>
          <p:cNvPr id="10" name="Text 7"/>
          <p:cNvSpPr/>
          <p:nvPr/>
        </p:nvSpPr>
        <p:spPr>
          <a:xfrm>
            <a:off x="3730752" y="17373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15398" y="3734248"/>
            <a:ext cx="594360" cy="594360"/>
          </a:xfrm>
          <a:prstGeom prst="roundRect">
            <a:avLst>
              <a:gd name="adj" fmla="val 46425"/>
            </a:avLst>
          </a:prstGeom>
          <a:solidFill>
            <a:srgbClr val="B45309"/>
          </a:solidFill>
          <a:ln/>
        </p:spPr>
      </p:sp>
      <p:pic>
        <p:nvPicPr>
          <p:cNvPr id="12" name="Image 1" descr="/home/claude/work/icons/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358" y="3900939"/>
            <a:ext cx="309067" cy="30906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64224" y="160020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501384" y="17373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362658" y="3760874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334155"/>
          </a:solidFill>
          <a:ln/>
        </p:spPr>
      </p:sp>
      <p:pic>
        <p:nvPicPr>
          <p:cNvPr id="17" name="Image 2" descr="/home/claude/work/icons/userfrie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304" y="3910836"/>
            <a:ext cx="309067" cy="309067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134856" y="160020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272016" y="1737360"/>
            <a:ext cx="2240280" cy="1600200"/>
          </a:xfrm>
          <a:prstGeom prst="roundRect">
            <a:avLst>
              <a:gd name="adj" fmla="val 2857"/>
            </a:avLst>
          </a:prstGeom>
          <a:solidFill>
            <a:srgbClr val="EEF2F6"/>
          </a:solidFill>
          <a:ln/>
        </p:spPr>
      </p:sp>
      <p:sp>
        <p:nvSpPr>
          <p:cNvPr id="20" name="Text 15"/>
          <p:cNvSpPr/>
          <p:nvPr/>
        </p:nvSpPr>
        <p:spPr>
          <a:xfrm>
            <a:off x="9272016" y="17373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10099171" y="3835774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D97706"/>
          </a:solidFill>
          <a:ln/>
        </p:spPr>
      </p:sp>
      <p:pic>
        <p:nvPicPr>
          <p:cNvPr id="22" name="Image 3" descr="/home/claude/work/icons/envel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6274" y="3969223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" y="4147718"/>
            <a:ext cx="2514600" cy="767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34202" y="491490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présentation du sommet, compte à rebours en temps réel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3581400" y="450611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programme.html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3593592" y="491490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détaillé des conférences et ateliers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376416" y="452953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intervenants.html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364224" y="4800600"/>
            <a:ext cx="2514600" cy="892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des intervenants avec filtres dynamiques par expertise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9163507" y="44724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contact.html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134856" y="4506110"/>
            <a:ext cx="2514600" cy="1375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d’inscription et informations pratiques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1078992" y="524166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6F97971E-0A83-4B9B-88DF-696E52AF26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331" y="1766944"/>
            <a:ext cx="2308860" cy="1475066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CDBAC6F1-84F8-4F57-893F-9D80B216FC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5256" y="1737360"/>
            <a:ext cx="2315776" cy="1600200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A15B891C-2F3E-4492-B85B-6258A5D9B7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224" y="1558614"/>
            <a:ext cx="2514601" cy="1927203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BB661ACB-F76A-4FCF-BD17-078E27BDF1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2016" y="1710738"/>
            <a:ext cx="2240280" cy="1638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 — Countdown &amp; Thème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760720" cy="4434840"/>
          </a:xfrm>
          <a:prstGeom prst="roundRect">
            <a:avLst>
              <a:gd name="adj" fmla="val 1443"/>
            </a:avLst>
          </a:prstGeom>
          <a:solidFill>
            <a:srgbClr val="0B1120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81051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261872" y="181051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472184" y="181051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764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script.js — compte à rebours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2148840"/>
            <a:ext cx="53492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Décompte jusqu'au début de l'événement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dateEvenement = new Date("2026-11-15T08:30:00");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majCompteARebours() {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ecart = dateEvenement - new Date();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j = Math.floor(ecart / 86400000);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 = Math.floor(ecart / 3600000) % 24;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 = Math.floor(ecart / 60000) % 60;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sec = Math.floor(ecart / 1000) % 60;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document.getElementById("jours").textContent = j;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document.getElementById("heures").textContent = h;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document.getElementById("minutes").textContent = m;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document.getElementById("secondes").textContent = sec;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setInterval(majCompteARebours, 1000);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16916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pic>
        <p:nvPicPr>
          <p:cNvPr id="10" name="Image 0" descr="/home/claude/work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339" y="184525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26680" y="17099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à rebours en temps réel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225856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dynamique sur l’accueil calculant le temps restant avant le sommet à Dakar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0" y="33832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pic>
        <p:nvPicPr>
          <p:cNvPr id="14" name="Image 1" descr="/home/claude/work/icons/tog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7339" y="353689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26680" y="34015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du thème (Dark / Light)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726680" y="395020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entre mode sombre et mode clair, avec sauvegarde de la préférence via localStorage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 — Animations, filtres &amp; formulaire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429000" cy="361188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19456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0F172A"/>
          </a:solidFill>
          <a:ln/>
        </p:spPr>
      </p:sp>
      <p:pic>
        <p:nvPicPr>
          <p:cNvPr id="5" name="Image 0" descr="/home/claude/work/icons/mag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510" y="23920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32461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 au défilement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43000" y="3886200"/>
            <a:ext cx="2788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l’entrée des éléments dans le champ de vision via l’API IntersectionObserver pour déclencher des transitions douces.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17720" y="1828800"/>
            <a:ext cx="3429000" cy="361188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219456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B45309"/>
          </a:solidFill>
          <a:ln/>
        </p:spPr>
      </p:sp>
      <p:pic>
        <p:nvPicPr>
          <p:cNvPr id="10" name="Image 1" descr="/home/claude/work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270" y="239207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37760" y="32461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 dynamique des intervenants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937760" y="3886200"/>
            <a:ext cx="2788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intervenants.html, les profils sont filtrés instantanément par domaine : IA, Développement Web, Cybersécurité, FinTech.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412480" y="1828800"/>
            <a:ext cx="3429000" cy="361188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732520" y="219456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334155"/>
          </a:solidFill>
          <a:ln/>
        </p:spPr>
      </p:sp>
      <p:pic>
        <p:nvPicPr>
          <p:cNvPr id="15" name="Image 2" descr="/home/claude/work/icons/checksqu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0030" y="239207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32520" y="32461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 formulaire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732520" y="3886200"/>
            <a:ext cx="2788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en temps réel des champs du formulaire (format email, champs requis, messages d’erreur personnalisés).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&amp; outils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20116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F172A"/>
          </a:solidFill>
          <a:ln/>
        </p:spPr>
      </p:sp>
      <p:pic>
        <p:nvPicPr>
          <p:cNvPr id="5" name="Image 0" descr="/home/claude/work/icons/html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21762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33375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 sémantique : header, nav, main, section, article, footer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593592" y="169164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07992" y="20116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B45309"/>
          </a:solidFill>
          <a:ln/>
        </p:spPr>
      </p:sp>
      <p:pic>
        <p:nvPicPr>
          <p:cNvPr id="10" name="Image 1" descr="/home/claude/work/icons/cs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17627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30752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776472" y="33375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CSS, Flexbox, Grid Layout, transitions, media queries — sans framework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64224" y="169164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78624" y="20116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334155"/>
          </a:solidFill>
          <a:ln/>
        </p:spPr>
      </p:sp>
      <p:pic>
        <p:nvPicPr>
          <p:cNvPr id="15" name="Image 2" descr="/home/claude/work/icons/j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217627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01384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47104" y="33375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du DOM, IntersectionObserver, gestionnaires d’événements et de dates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134856" y="169164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049256" y="20116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D97706"/>
          </a:solidFill>
          <a:ln/>
        </p:spPr>
      </p:sp>
      <p:pic>
        <p:nvPicPr>
          <p:cNvPr id="20" name="Image 3" descr="/home/claude/work/icons/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3848" y="217627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317736" y="33375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versions et hébergement du dépôt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22960" y="470916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24" name="Shape 18"/>
          <p:cNvSpPr/>
          <p:nvPr/>
        </p:nvSpPr>
        <p:spPr>
          <a:xfrm>
            <a:off x="1051560" y="4892040"/>
            <a:ext cx="411480" cy="411480"/>
          </a:xfrm>
          <a:prstGeom prst="roundRect">
            <a:avLst>
              <a:gd name="adj" fmla="val 31111"/>
            </a:avLst>
          </a:prstGeom>
          <a:solidFill>
            <a:srgbClr val="B45309"/>
          </a:solidFill>
          <a:ln/>
        </p:spPr>
      </p:sp>
      <p:pic>
        <p:nvPicPr>
          <p:cNvPr id="25" name="Image 4" descr="/home/claude/work/icons/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0315" y="4990795"/>
            <a:ext cx="213970" cy="21397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470916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 — intégré par CDN pour une iconographie vectorielle légère (icônes uniquement, pas le framework CSS)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— Commits, workflow &amp; déploiement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des commits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3657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207008" y="1874520"/>
            <a:ext cx="24688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du dépôt et structure HTML5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2208276"/>
            <a:ext cx="3657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07008" y="2208276"/>
            <a:ext cx="24688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des 4 pages (index, program, speakers, contact)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3657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07008" y="2542032"/>
            <a:ext cx="24688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variables, typographie, layout Flexbox/Grid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2875788"/>
            <a:ext cx="3657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07008" y="2875788"/>
            <a:ext cx="24688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responsive, media queries mobile/tablette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209544"/>
            <a:ext cx="3657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07008" y="3209544"/>
            <a:ext cx="24688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compte à rebours dynamique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03320" y="1874520"/>
            <a:ext cx="3657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87368" y="1874520"/>
            <a:ext cx="24688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gestion du thème dark/light (localStorage)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03320" y="2208276"/>
            <a:ext cx="3657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87368" y="2208276"/>
            <a:ext cx="24688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animations au scroll (IntersectionObserver)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03320" y="2542032"/>
            <a:ext cx="3657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87368" y="2542032"/>
            <a:ext cx="24688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filtrage des intervenants et validation formulaire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03320" y="2875788"/>
            <a:ext cx="3657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87368" y="2875788"/>
            <a:ext cx="24688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: accessibilité, commentaires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703320" y="3209544"/>
            <a:ext cx="3657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87368" y="3209544"/>
            <a:ext cx="24688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GitHub Pages, README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92240" y="1417320"/>
            <a:ext cx="484632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Git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196596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"..."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92240" y="3566160"/>
            <a:ext cx="4846320" cy="2148840"/>
          </a:xfrm>
          <a:prstGeom prst="roundRect">
            <a:avLst>
              <a:gd name="adj" fmla="val 3404"/>
            </a:avLst>
          </a:prstGeom>
          <a:solidFill>
            <a:srgbClr val="B45309"/>
          </a:solidFill>
          <a:ln/>
        </p:spPr>
      </p:sp>
      <p:sp>
        <p:nvSpPr>
          <p:cNvPr id="28" name="Shape 26"/>
          <p:cNvSpPr/>
          <p:nvPr/>
        </p:nvSpPr>
        <p:spPr>
          <a:xfrm>
            <a:off x="6766560" y="376732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0F172A"/>
          </a:solidFill>
          <a:ln/>
        </p:spPr>
      </p:sp>
      <p:pic>
        <p:nvPicPr>
          <p:cNvPr id="29" name="Image 0" descr="/home/claude/work/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234" y="3899002"/>
            <a:ext cx="285293" cy="285293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452360" y="3822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GitHub Pages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766560" y="44348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https://github.com/seynaboudiacene8-pixel</a:t>
            </a:r>
            <a:r>
              <a:rPr lang="en-US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/Diacene-Seynabou-AfriConnectSummit</a:t>
            </a: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766560" y="525780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D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par le lien réel du dépôt avant la soutenance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rencontrées et solutions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201168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B45309"/>
          </a:solidFill>
          <a:ln/>
        </p:spPr>
      </p:sp>
      <p:pic>
        <p:nvPicPr>
          <p:cNvPr id="5" name="Image 0" descr="/home/claude/work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261" y="21323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9659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thème choisi (dark/light) n’était pas conservé après rafraîchissement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51560" y="28346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F172A"/>
          </a:solidFill>
          <a:ln/>
        </p:spPr>
      </p:sp>
      <p:pic>
        <p:nvPicPr>
          <p:cNvPr id="8" name="Image 1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261" y="295534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7889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de la préférence dans localStorage et application automatique au chargement de la page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17920" y="17830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/>
        </p:spPr>
      </p:sp>
      <p:sp>
        <p:nvSpPr>
          <p:cNvPr id="11" name="Shape 7"/>
          <p:cNvSpPr/>
          <p:nvPr/>
        </p:nvSpPr>
        <p:spPr>
          <a:xfrm>
            <a:off x="6446520" y="201168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B45309"/>
          </a:solidFill>
          <a:ln/>
        </p:spPr>
      </p:sp>
      <p:pic>
        <p:nvPicPr>
          <p:cNvPr id="12" name="Image 2" descr="/home/claude/work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21" y="213238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19659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 décalage de mise en page au chargement des icônes (CDN)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46520" y="28346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F172A"/>
          </a:solidFill>
          <a:ln/>
        </p:spPr>
      </p:sp>
      <p:pic>
        <p:nvPicPr>
          <p:cNvPr id="15" name="Image 3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2955341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86600" y="27889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d’un espace fixe (width/height) pour éviter le layout shift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82296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/>
        </p:spPr>
      </p:sp>
      <p:sp>
        <p:nvSpPr>
          <p:cNvPr id="18" name="Shape 12"/>
          <p:cNvSpPr/>
          <p:nvPr/>
        </p:nvSpPr>
        <p:spPr>
          <a:xfrm>
            <a:off x="1051560" y="416052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B45309"/>
          </a:solidFill>
          <a:ln/>
        </p:spPr>
      </p:sp>
      <p:pic>
        <p:nvPicPr>
          <p:cNvPr id="19" name="Image 4" descr="/home/claude/work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261" y="4281221"/>
            <a:ext cx="261518" cy="26151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91640" y="41148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cartes intervenants filtrées disparaissaient sans transition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1051560" y="498348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F172A"/>
          </a:solidFill>
          <a:ln/>
        </p:spPr>
      </p:sp>
      <p:pic>
        <p:nvPicPr>
          <p:cNvPr id="22" name="Image 5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261" y="5104181"/>
            <a:ext cx="261518" cy="26151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691640" y="49377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.hidden combinée à une transition CSS sur l’opacité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621792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/>
        </p:spPr>
      </p:sp>
      <p:sp>
        <p:nvSpPr>
          <p:cNvPr id="25" name="Shape 17"/>
          <p:cNvSpPr/>
          <p:nvPr/>
        </p:nvSpPr>
        <p:spPr>
          <a:xfrm>
            <a:off x="6446520" y="416052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B45309"/>
          </a:solidFill>
          <a:ln/>
        </p:spPr>
      </p:sp>
      <p:pic>
        <p:nvPicPr>
          <p:cNvPr id="26" name="Image 6" descr="/home/claude/work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21" y="4281221"/>
            <a:ext cx="261518" cy="26151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86600" y="41148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 pouvait être soumis avec des champs invalides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6446520" y="498348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F172A"/>
          </a:solidFill>
          <a:ln/>
        </p:spPr>
      </p:sp>
      <p:pic>
        <p:nvPicPr>
          <p:cNvPr id="29" name="Image 7" descr="/home/claude/wor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5104181"/>
            <a:ext cx="261518" cy="26151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086600" y="49377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JavaScript en temps réel avec messages d’erreur personnalisés</a:t>
            </a:r>
            <a:endParaRPr lang="en-US" sz="1150" dirty="0"/>
          </a:p>
        </p:txBody>
      </p:sp>
      <p:sp>
        <p:nvSpPr>
          <p:cNvPr id="31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453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943600" cy="5943600"/>
          </a:xfrm>
          <a:prstGeom prst="ellipse">
            <a:avLst/>
          </a:prstGeom>
          <a:solidFill>
            <a:srgbClr val="D9770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960120" cy="9601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</p:sp>
      <p:pic>
        <p:nvPicPr>
          <p:cNvPr id="4" name="Image 0" descr="/home/claude/work/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9" y="1007669"/>
            <a:ext cx="499262" cy="4992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74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 du site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D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sur le site en direct 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017520"/>
            <a:ext cx="7680960" cy="6858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301752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https://seynaboudiacene8-pixel.github.io/Diacene-Seynabou-AfriConnectSummit/</a:t>
            </a:r>
            <a:endParaRPr lang="en-US" sz="14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3657600" cy="594360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9776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Accueil + compte à rebours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3977640"/>
            <a:ext cx="3657600" cy="594360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39776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Bascule mode sombre / clair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4754880"/>
            <a:ext cx="3657600" cy="594360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7548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Filtrage des intervenants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4754880"/>
            <a:ext cx="3657600" cy="594360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16" name="Text 13"/>
          <p:cNvSpPr/>
          <p:nvPr/>
        </p:nvSpPr>
        <p:spPr>
          <a:xfrm>
            <a:off x="4983480" y="47548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Formulaire de contact validé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956816"/>
            <a:ext cx="429768" cy="429768"/>
          </a:xfrm>
          <a:prstGeom prst="roundRect">
            <a:avLst>
              <a:gd name="adj" fmla="val 29787"/>
            </a:avLst>
          </a:prstGeom>
          <a:solidFill>
            <a:srgbClr val="0F172A"/>
          </a:solidFill>
          <a:ln/>
        </p:spPr>
      </p:sp>
      <p:pic>
        <p:nvPicPr>
          <p:cNvPr id="5" name="Image 0" descr="/home/claude/work/icons/check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984" y="2059960"/>
            <a:ext cx="223479" cy="2234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7452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du HTML5 sémantique et de l’accessibilité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265176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/>
        </p:spPr>
      </p:sp>
      <p:sp>
        <p:nvSpPr>
          <p:cNvPr id="8" name="Shape 5"/>
          <p:cNvSpPr/>
          <p:nvPr/>
        </p:nvSpPr>
        <p:spPr>
          <a:xfrm>
            <a:off x="1005840" y="2734056"/>
            <a:ext cx="429768" cy="429768"/>
          </a:xfrm>
          <a:prstGeom prst="roundRect">
            <a:avLst>
              <a:gd name="adj" fmla="val 29787"/>
            </a:avLst>
          </a:prstGeom>
          <a:solidFill>
            <a:srgbClr val="0F172A"/>
          </a:solidFill>
          <a:ln/>
        </p:spPr>
      </p:sp>
      <p:pic>
        <p:nvPicPr>
          <p:cNvPr id="9" name="Image 1" descr="/home/claude/work/icons/check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984" y="2837200"/>
            <a:ext cx="223479" cy="2234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65176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avancé sur-mesure : variables, Flexbox, Grid, animations, responsive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22960" y="342900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/>
        </p:spPr>
      </p:sp>
      <p:sp>
        <p:nvSpPr>
          <p:cNvPr id="12" name="Shape 8"/>
          <p:cNvSpPr/>
          <p:nvPr/>
        </p:nvSpPr>
        <p:spPr>
          <a:xfrm>
            <a:off x="1005840" y="3511296"/>
            <a:ext cx="429768" cy="429768"/>
          </a:xfrm>
          <a:prstGeom prst="roundRect">
            <a:avLst>
              <a:gd name="adj" fmla="val 29787"/>
            </a:avLst>
          </a:prstGeom>
          <a:solidFill>
            <a:srgbClr val="0F172A"/>
          </a:solidFill>
          <a:ln/>
        </p:spPr>
      </p:sp>
      <p:pic>
        <p:nvPicPr>
          <p:cNvPr id="13" name="Image 2" descr="/home/claude/work/icons/check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984" y="3614440"/>
            <a:ext cx="223479" cy="22347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42900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  : DOM, dates, IntersectionObserver, événements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822960" y="420624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/>
        </p:spPr>
      </p:sp>
      <p:sp>
        <p:nvSpPr>
          <p:cNvPr id="16" name="Shape 11"/>
          <p:cNvSpPr/>
          <p:nvPr/>
        </p:nvSpPr>
        <p:spPr>
          <a:xfrm>
            <a:off x="1005840" y="4288536"/>
            <a:ext cx="429768" cy="429768"/>
          </a:xfrm>
          <a:prstGeom prst="roundRect">
            <a:avLst>
              <a:gd name="adj" fmla="val 29787"/>
            </a:avLst>
          </a:prstGeom>
          <a:solidFill>
            <a:srgbClr val="0F172A"/>
          </a:solidFill>
          <a:ln/>
        </p:spPr>
      </p:sp>
      <p:pic>
        <p:nvPicPr>
          <p:cNvPr id="17" name="Image 3" descr="/home/claude/work/icons/check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984" y="4391680"/>
            <a:ext cx="223479" cy="22347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420624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professionnelle de Git/GitHub avec des commits structurés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822960" y="498348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/>
        </p:spPr>
      </p:sp>
      <p:sp>
        <p:nvSpPr>
          <p:cNvPr id="20" name="Shape 14"/>
          <p:cNvSpPr/>
          <p:nvPr/>
        </p:nvSpPr>
        <p:spPr>
          <a:xfrm>
            <a:off x="1005840" y="5065776"/>
            <a:ext cx="429768" cy="429768"/>
          </a:xfrm>
          <a:prstGeom prst="roundRect">
            <a:avLst>
              <a:gd name="adj" fmla="val 29787"/>
            </a:avLst>
          </a:prstGeom>
          <a:solidFill>
            <a:srgbClr val="0F172A"/>
          </a:solidFill>
          <a:ln/>
        </p:spPr>
      </p:sp>
      <p:pic>
        <p:nvPicPr>
          <p:cNvPr id="21" name="Image 4" descr="/home/claude/work/icons/check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984" y="5168920"/>
            <a:ext cx="223479" cy="22347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91640" y="498348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réel d’un site multi-pages via GitHub Pages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B45309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d’amélioration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B45309"/>
          </a:solidFill>
          <a:ln/>
        </p:spPr>
      </p:sp>
      <p:pic>
        <p:nvPicPr>
          <p:cNvPr id="5" name="Image 0" descr="/home/claude/work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0153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37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réelle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783080" y="216712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/ inscription des participants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B45309"/>
          </a:solidFill>
          <a:ln/>
        </p:spPr>
      </p:sp>
      <p:pic>
        <p:nvPicPr>
          <p:cNvPr id="9" name="Image 1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458" y="201533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1737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base de données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178040" y="216712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réelle des inscriptions et intervenants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" y="324612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B45309"/>
          </a:solidFill>
          <a:ln/>
        </p:spPr>
      </p:sp>
      <p:pic>
        <p:nvPicPr>
          <p:cNvPr id="13" name="Image 2" descr="/home/claude/work/icons/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343265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3154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en ligne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783080" y="358444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Billetterie VIP via Mobile Money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17920" y="324612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B45309"/>
          </a:solidFill>
          <a:ln/>
        </p:spPr>
      </p:sp>
      <p:pic>
        <p:nvPicPr>
          <p:cNvPr id="17" name="Image 3" descr="/home/claude/work/icons/langu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4458" y="3432658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78040" y="3154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Traduction multilingue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178040" y="358444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FR / EN du site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pour votre attention — Questions ?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1548</Words>
  <Application>Microsoft Office PowerPoint</Application>
  <PresentationFormat>Grand écran</PresentationFormat>
  <Paragraphs>256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AISSATOU</cp:lastModifiedBy>
  <cp:revision>7</cp:revision>
  <dcterms:created xsi:type="dcterms:W3CDTF">2026-07-29T00:09:06Z</dcterms:created>
  <dcterms:modified xsi:type="dcterms:W3CDTF">2026-07-29T01:09:35Z</dcterms:modified>
</cp:coreProperties>
</file>